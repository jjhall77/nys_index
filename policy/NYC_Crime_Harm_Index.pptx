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5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NYC Crime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Harm Index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Smarter Way to Measure Crime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371600" cy="27432"/>
          </a:xfrm>
          <a:prstGeom prst="rect">
            <a:avLst/>
          </a:prstGeom>
          <a:solidFill>
            <a:srgbClr val="01AD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John Hall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0" cy="2286000"/>
          </a:xfrm>
          <a:prstGeom prst="rect">
            <a:avLst/>
          </a:prstGeom>
          <a:solidFill>
            <a:srgbClr val="06455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= 1 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Traditional crime statistics count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crime equally—a shoplifting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a murder both count as 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misleads decisions.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that loses 50 thefts but gains 5 homicides looks safer on paper—even as real harm to residents skyrockets.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70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Resources go to the wrong places.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7863840" cy="18288"/>
          </a:xfrm>
          <a:prstGeom prst="rect">
            <a:avLst/>
          </a:prstGeom>
          <a:solidFill>
            <a:srgbClr val="E8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Crime Harm Index solves this by weighting each crime by its seriousness.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Brief History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16152" y="1417320"/>
            <a:ext cx="18288" cy="2697480"/>
          </a:xfrm>
          <a:prstGeom prst="rect">
            <a:avLst/>
          </a:prstGeom>
          <a:solidFill>
            <a:srgbClr val="E8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261872"/>
            <a:ext cx="347472" cy="347472"/>
          </a:xfrm>
          <a:prstGeom prst="ellipse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Power Few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Sherman shows a tiny share of places produce most serious harm.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2130552"/>
            <a:ext cx="347472" cy="347472"/>
          </a:xfrm>
          <a:prstGeom prst="ellipse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Canada CSI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national harm-weighted crime measure, published annually.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999232"/>
            <a:ext cx="347472" cy="347472"/>
          </a:xfrm>
          <a:prstGeom prst="ellipse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Cambridge CHI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218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Crime counts overstated safety gains by 76% vs. harm index.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3867912"/>
            <a:ext cx="347472" cy="347472"/>
          </a:xfrm>
          <a:prstGeom prst="ellipse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Equity Critique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Court-sentence weights can embed bias—statutory law avoids this.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1188720"/>
            <a:ext cx="3291840" cy="2926080"/>
          </a:xfrm>
          <a:prstGeom prst="rect">
            <a:avLst/>
          </a:prstGeom>
          <a:solidFill>
            <a:srgbClr val="06455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13+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557784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countries use harm-weighted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crime measurement for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policing decisions.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Including Canada, UK, Denmark,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Zealand, Australia, Sweden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NYC’s Index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crime is weighted by the midpoint of the sentencing range in New York State law.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828800"/>
          </a:xfrm>
          <a:prstGeom prst="rect">
            <a:avLst/>
          </a:prstGeom>
          <a:solidFill>
            <a:srgbClr val="06455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Grounded in Law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Weights come directly from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legislators have decided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crime deserves.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560320" cy="1828800"/>
          </a:xfrm>
          <a:prstGeom prst="rect">
            <a:avLst/>
          </a:prstGeom>
          <a:solidFill>
            <a:srgbClr val="F8FA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599" y="1737360"/>
            <a:ext cx="2185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Avoids Sentencing Bias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Uses statutory ranges, not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court sentences—sidestepping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disparities in actual sentencing.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F8FA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Anyone can look up NYS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Penal Law and verify every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 in the index.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863840" cy="18288"/>
          </a:xfrm>
          <a:prstGeom prst="rect">
            <a:avLst/>
          </a:prstGeom>
          <a:solidFill>
            <a:srgbClr val="E8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murder (7,300 days)  =  40 misdemeanor assaults (183 days each)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Weight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Harm weight = midpoint of NYS Penal Law sentencing range, in days.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322783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Offense Class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Range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CHI (Days)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5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A-I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Murder 2nd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15–25 yrs to life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7,300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5–25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5,475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3.5–15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3,380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2–7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1,643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1.5–4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1,004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Non-Violent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1–9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1,825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Non-Violent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1–5.5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1,186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 Felony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Non-Violent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0–2.5 years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456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Misdemeanor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Up to 1 year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 Misdemeanor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Up to 3 months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NYS Penal Law §70.00, §70.02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Measured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1M+ victim-reported crimes across 10 offense categories, 2018–2022.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Murder &amp; Manslaughter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92224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728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Robbery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Felony Assault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Burglary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Grand Larceny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128016" cy="128016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 Vehicle Theft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28016" cy="128016"/>
          </a:xfrm>
          <a:prstGeom prst="rect">
            <a:avLst/>
          </a:prstGeom>
          <a:solidFill>
            <a:srgbClr val="8A9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Misdemeanor Assault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128016" cy="128016"/>
          </a:xfrm>
          <a:prstGeom prst="rect">
            <a:avLst/>
          </a:prstGeom>
          <a:solidFill>
            <a:srgbClr val="8A9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Petit Larceny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79392"/>
            <a:ext cx="128016" cy="128016"/>
          </a:xfrm>
          <a:prstGeom prst="rect">
            <a:avLst/>
          </a:prstGeom>
          <a:solidFill>
            <a:srgbClr val="8A9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Sex Crimes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FBI Part I + 3 additions</a:t>
            </a:r>
            <a:endParaRPr lang="en-US" sz="900" dirty="0"/>
          </a:p>
        </p:txBody>
      </p:sp>
      <p:pic>
        <p:nvPicPr>
          <p:cNvPr id="25" name="Image 0" descr="/Users/johnhall/Documents/Research/nys_index/output/figures/fig03_chi_offense_recomme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4206240" cy="316382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389120" y="4297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Recommended CHI weights by offense category (days)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All Robberies Are Equal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151 distinct weights—the finest-grained crime harm index in the U.S.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Carjacking / hijacking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943600" cy="274320"/>
          </a:xfrm>
          <a:prstGeom prst="rect">
            <a:avLst/>
          </a:prstGeom>
          <a:solidFill>
            <a:srgbClr val="064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0" y="1847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4,426 days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Street robbery, open area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720694" cy="274320"/>
          </a:xfrm>
          <a:prstGeom prst="rect">
            <a:avLst/>
          </a:prstGeom>
          <a:solidFill>
            <a:srgbClr val="0A5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3654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2,771 days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electronic device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3304642" cy="274320"/>
          </a:xfrm>
          <a:prstGeom prst="rect">
            <a:avLst/>
          </a:prstGeom>
          <a:solidFill>
            <a:srgbClr val="0F7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27602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2,459 days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 / commercial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2062429" cy="274320"/>
          </a:xfrm>
          <a:prstGeom prst="rect">
            <a:avLst/>
          </a:prstGeom>
          <a:solidFill>
            <a:srgbClr val="8A9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5389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1,534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7863840" cy="18288"/>
          </a:xfrm>
          <a:prstGeom prst="rect">
            <a:avLst/>
          </a:prstGeom>
          <a:solidFill>
            <a:srgbClr val="E8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Weights reflect the actual mix of criminal charges NYPD records for each specific type of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Weights computed separately for each year from 2018 to 2022 are highly consistent.</a:t>
            </a:r>
            <a:endParaRPr lang="en-US" sz="1400" dirty="0"/>
          </a:p>
        </p:txBody>
      </p:sp>
      <p:pic>
        <p:nvPicPr>
          <p:cNvPr id="4" name="Image 0" descr="/Users/johnhall/Documents/Research/nys_index/output/figures/fig01_chi_offense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4754880" cy="3803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52669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 weights by offense category, 2018–2022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Accounting for Gun Violence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Shootings replace—not add to—matching crime complaints, preventing double-counting.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1371600"/>
          </a:xfrm>
          <a:prstGeom prst="rect">
            <a:avLst/>
          </a:prstGeom>
          <a:solidFill>
            <a:srgbClr val="06455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Fatal Shooting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7,300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Murder 2nd Degree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60320" cy="1371600"/>
          </a:xfrm>
          <a:prstGeom prst="rect">
            <a:avLst/>
          </a:prstGeom>
          <a:solidFill>
            <a:srgbClr val="F8FA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Non-Fatal Shooting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5,475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Attempted Murder 2nd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solidFill>
            <a:srgbClr val="F8FA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Shots Fired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3,376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638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CPW 2nd Degree floor</a:t>
            </a:r>
            <a:endParaRPr lang="en-US" sz="1000" dirty="0"/>
          </a:p>
        </p:txBody>
      </p:sp>
      <p:pic>
        <p:nvPicPr>
          <p:cNvPr id="19" name="Image 0" descr="/Users/johnhall/Documents/Research/nys_index/output/figures/fig_gun_fatal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2816352" cy="2011680"/>
          </a:xfrm>
          <a:prstGeom prst="rect">
            <a:avLst/>
          </a:prstGeom>
        </p:spPr>
      </p:pic>
      <p:pic>
        <p:nvPicPr>
          <p:cNvPr id="20" name="Image 1" descr="/Users/johnhall/Documents/Research/nys_index/output/figures/fig_gun_shootings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26080"/>
            <a:ext cx="3218688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Means for Policy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657600" cy="2560320"/>
          </a:xfrm>
          <a:prstGeom prst="rect">
            <a:avLst/>
          </a:prstGeom>
          <a:solidFill>
            <a:srgbClr val="06455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Targeting Tool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Identifies where the most harm happens—not just the most crime.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Designed for block-level targeting: the smallest practical unit for place-based interventions.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Harm is far more concentrated than crime counts suggest.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2560320"/>
          </a:xfrm>
          <a:prstGeom prst="rect">
            <a:avLst/>
          </a:prstGeom>
          <a:solidFill>
            <a:srgbClr val="F8FA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5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Scorecard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CHI informs decisions—it should not become a performance metric.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indices become scorecards, the numbers themselves become the target.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tool directs resources. It does not rank neighborhoods.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8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70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on NYS law  ·  Transparent &amp; reproducible  ·  Portable to other jurisdictions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4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NYC Crime Harm Index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1AD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Measuring what matters to keep New Yorkers safe.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886200" y="3017520"/>
            <a:ext cx="1371600" cy="18288"/>
          </a:xfrm>
          <a:prstGeom prst="rect">
            <a:avLst/>
          </a:prstGeom>
          <a:solidFill>
            <a:srgbClr val="8A9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A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653</Words>
  <Application>Microsoft Macintosh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Crime Harm Index</dc:title>
  <dc:subject>PptxGenJS Presentation</dc:subject>
  <dc:creator>John Hall</dc:creator>
  <cp:lastModifiedBy>Hall, John  (MOCJ)</cp:lastModifiedBy>
  <cp:revision>3</cp:revision>
  <dcterms:created xsi:type="dcterms:W3CDTF">2026-03-23T16:52:08Z</dcterms:created>
  <dcterms:modified xsi:type="dcterms:W3CDTF">2026-03-24T08:43:59Z</dcterms:modified>
</cp:coreProperties>
</file>