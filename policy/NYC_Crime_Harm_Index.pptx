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858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5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NYC Crime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Harm Index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1AD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Smarter Way to Measure Crime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3749040"/>
            <a:ext cx="1371600" cy="27432"/>
          </a:xfrm>
          <a:prstGeom prst="rect">
            <a:avLst/>
          </a:prstGeom>
          <a:solidFill>
            <a:srgbClr val="01AD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4023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John Hall  |  March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657600" cy="2286000"/>
          </a:xfrm>
          <a:prstGeom prst="rect">
            <a:avLst/>
          </a:prstGeom>
          <a:solidFill>
            <a:srgbClr val="064556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= 1 ?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377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Traditional crime statistics count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crime equally—a shoplifting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a murder both count as one.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4630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misleads decisions.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754880" y="20116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neighborhood that loses 50 thefts but gains 5 homicides looks safer on paper—even as real harm to residents skyrockets.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705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Resources go to the wrong places.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23360"/>
            <a:ext cx="7863840" cy="18288"/>
          </a:xfrm>
          <a:prstGeom prst="rect">
            <a:avLst/>
          </a:prstGeom>
          <a:solidFill>
            <a:srgbClr val="E8E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Crime Harm Index solves this by weighting each crime by its seriousness.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Brief History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216152" y="1417320"/>
            <a:ext cx="18288" cy="2697480"/>
          </a:xfrm>
          <a:prstGeom prst="rect">
            <a:avLst/>
          </a:prstGeom>
          <a:solidFill>
            <a:srgbClr val="E8E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51560" y="1261872"/>
            <a:ext cx="347472" cy="347472"/>
          </a:xfrm>
          <a:prstGeom prst="ellipse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2618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4592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Power Few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14813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Sherman shows a tiny share of places produce most serious harm.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51560" y="2130552"/>
            <a:ext cx="347472" cy="347472"/>
          </a:xfrm>
          <a:prstGeom prst="ellipse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51560" y="2130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4592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Canada CSI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23500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national harm-weighted crime measure, published annually.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51560" y="2999232"/>
            <a:ext cx="347472" cy="347472"/>
          </a:xfrm>
          <a:prstGeom prst="ellipse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51560" y="2999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2016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4592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Cambridge CHI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45920" y="32186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Crime counts overstated safety gains by 76% vs. harm index.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51560" y="3867912"/>
            <a:ext cx="347472" cy="347472"/>
          </a:xfrm>
          <a:prstGeom prst="ellipse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51560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2024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45920" y="3794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Equity Critique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4087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Court-sentence weights can embed bias—statutory law avoids this.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03520" y="1188720"/>
            <a:ext cx="3291840" cy="2926080"/>
          </a:xfrm>
          <a:prstGeom prst="rect">
            <a:avLst/>
          </a:prstGeom>
          <a:solidFill>
            <a:srgbClr val="064556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577840" y="1417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AD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7784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13+</a:t>
            </a:r>
            <a:endParaRPr lang="en-US" sz="6400" dirty="0"/>
          </a:p>
        </p:txBody>
      </p:sp>
      <p:sp>
        <p:nvSpPr>
          <p:cNvPr id="23" name="Text 21"/>
          <p:cNvSpPr/>
          <p:nvPr/>
        </p:nvSpPr>
        <p:spPr>
          <a:xfrm>
            <a:off x="557784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countries use harm-weighted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crime measurement for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policing decisions.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77840" y="3566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Including Canada, UK, Denmark,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New Zealand, Australia, Sweden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NYC’s Index Works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crime is weighted by the midpoint of the sentencing range in New York State law.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560320" cy="1828800"/>
          </a:xfrm>
          <a:prstGeom prst="rect">
            <a:avLst/>
          </a:prstGeom>
          <a:solidFill>
            <a:srgbClr val="064556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737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AD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Grounded in Law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Weights come directly from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legislators have decided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crime deserves.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554480"/>
            <a:ext cx="2560320" cy="1828800"/>
          </a:xfrm>
          <a:prstGeom prst="rect">
            <a:avLst/>
          </a:prstGeom>
          <a:solidFill>
            <a:srgbClr val="F8FAFB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0" y="1737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Avoids Bias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21488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Uses statutory ranges, not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court sentences—sidestepping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disparities in actual sentencing.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560320" cy="1828800"/>
          </a:xfrm>
          <a:prstGeom prst="rect">
            <a:avLst/>
          </a:prstGeom>
          <a:solidFill>
            <a:srgbClr val="F8FAFB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46520" y="1737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Transparent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46520" y="21488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Anyone can look up NYS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Penal Law and verify every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weight in the index.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7863840" cy="18288"/>
          </a:xfrm>
          <a:prstGeom prst="rect">
            <a:avLst/>
          </a:prstGeom>
          <a:solidFill>
            <a:srgbClr val="E8E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023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murder (7,300 days)  =  40 misdemeanor assaults (183 days each)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Weight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Harm weight = midpoint of NYS Penal Law sentencing range, in days.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25880"/>
          <a:ext cx="7863840" cy="3227832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Offense Class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5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Type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5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Range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5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CHI (Days)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5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A-I Felony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Murder 2nd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15–25 yrs to life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7,300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 Felony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Violent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5–25 years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5,475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 Felony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Violent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3.5–15 years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3,380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 Felony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Violent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2–7 years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1,643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 Felony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Violent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1.5–4 years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1,004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 Felony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Non-Violent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1–9 years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1,825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 Felony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Non-Violent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1–5.5 years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1,186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 Felony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Non-Violent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0–2.5 years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456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 Misdemeanor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Up to 1 year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183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 Misdemeanor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Up to 3 months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NYS Penal Law §70.00, §70.02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Measured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1M+ victim-reported crimes across 10 offense categories, 2018–2022.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28016" cy="128016"/>
          </a:xfrm>
          <a:prstGeom prst="rect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Murder &amp; Manslaughter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28016" cy="128016"/>
          </a:xfrm>
          <a:prstGeom prst="rect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1728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Rape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128016" cy="128016"/>
          </a:xfrm>
          <a:prstGeom prst="rect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2039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Robbery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128016" cy="128016"/>
          </a:xfrm>
          <a:prstGeom prst="rect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2350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Felony Assault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724912"/>
            <a:ext cx="128016" cy="128016"/>
          </a:xfrm>
          <a:prstGeom prst="rect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0120" y="26609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Burglary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035808"/>
            <a:ext cx="128016" cy="128016"/>
          </a:xfrm>
          <a:prstGeom prst="rect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012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Grand Larceny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346704"/>
            <a:ext cx="128016" cy="128016"/>
          </a:xfrm>
          <a:prstGeom prst="rect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3282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Motor Vehicle Theft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657600"/>
            <a:ext cx="128016" cy="128016"/>
          </a:xfrm>
          <a:prstGeom prst="rect">
            <a:avLst/>
          </a:prstGeom>
          <a:solidFill>
            <a:srgbClr val="8A9B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0120" y="3593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Misdemeanor Assault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968496"/>
            <a:ext cx="128016" cy="128016"/>
          </a:xfrm>
          <a:prstGeom prst="rect">
            <a:avLst/>
          </a:prstGeom>
          <a:solidFill>
            <a:srgbClr val="8A9B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" y="3904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Petit Larceny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279392"/>
            <a:ext cx="128016" cy="128016"/>
          </a:xfrm>
          <a:prstGeom prst="rect">
            <a:avLst/>
          </a:prstGeom>
          <a:solidFill>
            <a:srgbClr val="8A9B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60120" y="42153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Sex Crimes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663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FBI Part I + 3 additions</a:t>
            </a:r>
            <a:endParaRPr lang="en-US" sz="900" dirty="0"/>
          </a:p>
        </p:txBody>
      </p:sp>
      <p:pic>
        <p:nvPicPr>
          <p:cNvPr id="25" name="Image 0" descr="/Users/johnhall/Documents/Research/nys_index/output/figures/fig03_chi_offense_recomme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97280"/>
            <a:ext cx="4206240" cy="316382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389120" y="4297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Recommended CHI weights by offense category (days)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All Robberies Are Equal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151 distinct weights—the finest-grained crime harm index in the U.S.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Carjacking / hijacking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943600" cy="274320"/>
          </a:xfrm>
          <a:prstGeom prst="rect">
            <a:avLst/>
          </a:prstGeom>
          <a:solidFill>
            <a:srgbClr val="0645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766560" y="18470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4,426 days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Street robbery, open area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3720694" cy="274320"/>
          </a:xfrm>
          <a:prstGeom prst="rect">
            <a:avLst/>
          </a:prstGeom>
          <a:solidFill>
            <a:srgbClr val="0A5A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43654" y="26243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2,771 days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Personal electronic device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429000"/>
            <a:ext cx="3304642" cy="274320"/>
          </a:xfrm>
          <a:prstGeom prst="rect">
            <a:avLst/>
          </a:prstGeom>
          <a:solidFill>
            <a:srgbClr val="0F70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27602" y="34015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2,459 days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 / commercial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2062429" cy="274320"/>
          </a:xfrm>
          <a:prstGeom prst="rect">
            <a:avLst/>
          </a:prstGeom>
          <a:solidFill>
            <a:srgbClr val="8A9B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85389" y="41788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1,534 days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7863840" cy="18288"/>
          </a:xfrm>
          <a:prstGeom prst="rect">
            <a:avLst/>
          </a:prstGeom>
          <a:solidFill>
            <a:srgbClr val="E8E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572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Weights reflect the actual mix of criminal charges NYPD records for each specific type of incident.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Stable Over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Weights computed separately for each year from 2018 to 2022 are highly consistent.</a:t>
            </a:r>
            <a:endParaRPr lang="en-US" sz="1400" dirty="0"/>
          </a:p>
        </p:txBody>
      </p:sp>
      <p:pic>
        <p:nvPicPr>
          <p:cNvPr id="4" name="Image 0" descr="/Users/johnhall/Documents/Research/nys_index/output/figures/fig01_chi_offense_temp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1371600"/>
            <a:ext cx="4754880" cy="38039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194560" y="526694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CHI weights by offense category, 2018–2022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Accounting for Gun Violence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Shootings replace—not add to—matching crime complaints, preventing double-counting.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560320" cy="1371600"/>
          </a:xfrm>
          <a:prstGeom prst="rect">
            <a:avLst/>
          </a:prstGeom>
          <a:solidFill>
            <a:srgbClr val="064556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1AD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Fatal Shooting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7,300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286000" y="1874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days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Murder 2nd Degree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371600"/>
            <a:ext cx="2560320" cy="1371600"/>
          </a:xfrm>
          <a:prstGeom prst="rect">
            <a:avLst/>
          </a:prstGeom>
          <a:solidFill>
            <a:srgbClr val="F8FAFB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1188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Non-Fatal Shooting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11880" y="1737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5,475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074920" y="1874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days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Attempted Murder 2nd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560320" cy="1371600"/>
          </a:xfrm>
          <a:prstGeom prst="rect">
            <a:avLst/>
          </a:prstGeom>
          <a:solidFill>
            <a:srgbClr val="F8FAFB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Shots Fired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0" y="17373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3,376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863840" y="1874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CPW 2nd Degree floor</a:t>
            </a:r>
            <a:endParaRPr lang="en-US" sz="1000" dirty="0"/>
          </a:p>
        </p:txBody>
      </p:sp>
      <p:pic>
        <p:nvPicPr>
          <p:cNvPr id="19" name="Image 0" descr="/Users/johnhall/Documents/Research/nys_index/output/figures/fig_gun_fatal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26080"/>
            <a:ext cx="2816352" cy="2011680"/>
          </a:xfrm>
          <a:prstGeom prst="rect">
            <a:avLst/>
          </a:prstGeom>
        </p:spPr>
      </p:pic>
      <p:pic>
        <p:nvPicPr>
          <p:cNvPr id="20" name="Image 1" descr="/Users/johnhall/Documents/Research/nys_index/output/figures/fig_gun_shootings_volu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926080"/>
            <a:ext cx="3218688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This Means for Policy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657600" cy="2560320"/>
          </a:xfrm>
          <a:prstGeom prst="rect">
            <a:avLst/>
          </a:prstGeom>
          <a:solidFill>
            <a:srgbClr val="064556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1AD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Targeting Tool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Identifies where the most harm happens—not just the most crime.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Designed for block-level targeting: the smallest practical unit for place-based interventions.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CE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Harm is far more concentrated than crime counts suggest.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2560320"/>
          </a:xfrm>
          <a:prstGeom prst="rect">
            <a:avLst/>
          </a:prstGeom>
          <a:solidFill>
            <a:srgbClr val="F8FAFB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45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Scorecard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CHI informs decisions—it should not become a performance metric.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indices become scorecards, the numbers themselves become the target.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tool directs resources. It does not rank neighborhoods.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4114800"/>
            <a:ext cx="7863840" cy="18288"/>
          </a:xfrm>
          <a:prstGeom prst="rect">
            <a:avLst/>
          </a:prstGeom>
          <a:solidFill>
            <a:srgbClr val="E8E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5705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Built on NYS law  ·  Transparent &amp; reproducible  ·  Portable to other jurisdictions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45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NYC Crime Harm Index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1AD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Measuring what matters to keep New Yorkers safe.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886200" y="3017520"/>
            <a:ext cx="1371600" cy="18288"/>
          </a:xfrm>
          <a:prstGeom prst="rect">
            <a:avLst/>
          </a:prstGeom>
          <a:solidFill>
            <a:srgbClr val="8A9B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John Hall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A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March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654</Words>
  <Application>Microsoft Macintosh PowerPoint</Application>
  <PresentationFormat>On-screen Show (16:9)</PresentationFormat>
  <Paragraphs>166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NYC Crime Harm Index</dc:title>
  <dc:subject>PptxGenJS Presentation</dc:subject>
  <dc:creator>John Hall</dc:creator>
  <cp:lastModifiedBy>Hall, John  (MOCJ)</cp:lastModifiedBy>
  <cp:revision>2</cp:revision>
  <dcterms:created xsi:type="dcterms:W3CDTF">2026-03-23T16:52:08Z</dcterms:created>
  <dcterms:modified xsi:type="dcterms:W3CDTF">2026-03-23T19:34:15Z</dcterms:modified>
</cp:coreProperties>
</file>